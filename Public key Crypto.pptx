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oppins" panose="00000500000000000000" pitchFamily="2" charset="0"/>
      <p:regular r:id="rId8"/>
    </p:embeddedFont>
    <p:embeddedFont>
      <p:font typeface="Poppins Bold" panose="020B0604020202020204" charset="0"/>
      <p:regular r:id="rId9"/>
    </p:embeddedFont>
    <p:embeddedFont>
      <p:font typeface="TT Firs Neue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svg"/><Relationship Id="rId7" Type="http://schemas.openxmlformats.org/officeDocument/2006/relationships/image" Target="../media/image33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3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198466"/>
            <a:ext cx="5707856" cy="830234"/>
          </a:xfrm>
          <a:custGeom>
            <a:avLst/>
            <a:gdLst/>
            <a:ahLst/>
            <a:cxnLst/>
            <a:rect l="l" t="t" r="r" b="b"/>
            <a:pathLst>
              <a:path w="5707856" h="830234">
                <a:moveTo>
                  <a:pt x="5707856" y="0"/>
                </a:moveTo>
                <a:lnTo>
                  <a:pt x="0" y="0"/>
                </a:lnTo>
                <a:lnTo>
                  <a:pt x="0" y="830234"/>
                </a:lnTo>
                <a:lnTo>
                  <a:pt x="5707856" y="830234"/>
                </a:lnTo>
                <a:lnTo>
                  <a:pt x="57078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0256" y="2962845"/>
            <a:ext cx="4327538" cy="4432302"/>
          </a:xfrm>
          <a:custGeom>
            <a:avLst/>
            <a:gdLst/>
            <a:ahLst/>
            <a:cxnLst/>
            <a:rect l="l" t="t" r="r" b="b"/>
            <a:pathLst>
              <a:path w="4327538" h="4432302">
                <a:moveTo>
                  <a:pt x="0" y="0"/>
                </a:moveTo>
                <a:lnTo>
                  <a:pt x="4327539" y="0"/>
                </a:lnTo>
                <a:lnTo>
                  <a:pt x="4327539" y="4432302"/>
                </a:lnTo>
                <a:lnTo>
                  <a:pt x="0" y="44323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305238" y="4883560"/>
            <a:ext cx="8954062" cy="120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901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Cryptography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05238" y="3322989"/>
            <a:ext cx="6186594" cy="120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901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Public-Key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05238" y="6346471"/>
            <a:ext cx="8406509" cy="10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sz="29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Ensuring Secure Communication over Public Networks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82800" y="8648700"/>
            <a:ext cx="2694059" cy="51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9"/>
              </a:lnSpc>
            </a:pPr>
            <a:r>
              <a:rPr lang="en-US" sz="3499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A. Rushika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8067" y="7808726"/>
            <a:ext cx="552940" cy="677321"/>
          </a:xfrm>
          <a:custGeom>
            <a:avLst/>
            <a:gdLst/>
            <a:ahLst/>
            <a:cxnLst/>
            <a:rect l="l" t="t" r="r" b="b"/>
            <a:pathLst>
              <a:path w="552940" h="677321">
                <a:moveTo>
                  <a:pt x="0" y="0"/>
                </a:moveTo>
                <a:lnTo>
                  <a:pt x="552940" y="0"/>
                </a:lnTo>
                <a:lnTo>
                  <a:pt x="552940" y="677321"/>
                </a:lnTo>
                <a:lnTo>
                  <a:pt x="0" y="677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6636" y="2860912"/>
            <a:ext cx="589922" cy="587569"/>
          </a:xfrm>
          <a:custGeom>
            <a:avLst/>
            <a:gdLst/>
            <a:ahLst/>
            <a:cxnLst/>
            <a:rect l="l" t="t" r="r" b="b"/>
            <a:pathLst>
              <a:path w="589922" h="587569">
                <a:moveTo>
                  <a:pt x="0" y="0"/>
                </a:moveTo>
                <a:lnTo>
                  <a:pt x="589921" y="0"/>
                </a:lnTo>
                <a:lnTo>
                  <a:pt x="589921" y="587569"/>
                </a:lnTo>
                <a:lnTo>
                  <a:pt x="0" y="587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6636" y="3970337"/>
            <a:ext cx="564371" cy="700686"/>
          </a:xfrm>
          <a:custGeom>
            <a:avLst/>
            <a:gdLst/>
            <a:ahLst/>
            <a:cxnLst/>
            <a:rect l="l" t="t" r="r" b="b"/>
            <a:pathLst>
              <a:path w="564371" h="700686">
                <a:moveTo>
                  <a:pt x="0" y="0"/>
                </a:moveTo>
                <a:lnTo>
                  <a:pt x="564371" y="0"/>
                </a:lnTo>
                <a:lnTo>
                  <a:pt x="564371" y="700686"/>
                </a:lnTo>
                <a:lnTo>
                  <a:pt x="0" y="700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58067" y="5302687"/>
            <a:ext cx="583635" cy="611427"/>
          </a:xfrm>
          <a:custGeom>
            <a:avLst/>
            <a:gdLst/>
            <a:ahLst/>
            <a:cxnLst/>
            <a:rect l="l" t="t" r="r" b="b"/>
            <a:pathLst>
              <a:path w="583635" h="611427">
                <a:moveTo>
                  <a:pt x="0" y="0"/>
                </a:moveTo>
                <a:lnTo>
                  <a:pt x="583635" y="0"/>
                </a:lnTo>
                <a:lnTo>
                  <a:pt x="583635" y="611427"/>
                </a:lnTo>
                <a:lnTo>
                  <a:pt x="0" y="6114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4370" y="6567500"/>
            <a:ext cx="569672" cy="587841"/>
          </a:xfrm>
          <a:custGeom>
            <a:avLst/>
            <a:gdLst/>
            <a:ahLst/>
            <a:cxnLst/>
            <a:rect l="l" t="t" r="r" b="b"/>
            <a:pathLst>
              <a:path w="569672" h="587841">
                <a:moveTo>
                  <a:pt x="0" y="0"/>
                </a:moveTo>
                <a:lnTo>
                  <a:pt x="569672" y="0"/>
                </a:lnTo>
                <a:lnTo>
                  <a:pt x="569672" y="587841"/>
                </a:lnTo>
                <a:lnTo>
                  <a:pt x="0" y="5878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14370" y="1688704"/>
            <a:ext cx="622187" cy="570150"/>
          </a:xfrm>
          <a:custGeom>
            <a:avLst/>
            <a:gdLst/>
            <a:ahLst/>
            <a:cxnLst/>
            <a:rect l="l" t="t" r="r" b="b"/>
            <a:pathLst>
              <a:path w="622187" h="570150">
                <a:moveTo>
                  <a:pt x="0" y="0"/>
                </a:moveTo>
                <a:lnTo>
                  <a:pt x="622187" y="0"/>
                </a:lnTo>
                <a:lnTo>
                  <a:pt x="622187" y="570150"/>
                </a:lnTo>
                <a:lnTo>
                  <a:pt x="0" y="570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8067" y="490104"/>
            <a:ext cx="13503590" cy="868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Public Key Infrastructure</a:t>
            </a:r>
            <a:r>
              <a:rPr lang="en-US" sz="6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(PKI)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46431" y="1629743"/>
            <a:ext cx="14862625" cy="65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comprehensive security framework for secure communication.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46431" y="2776554"/>
            <a:ext cx="14119794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Consists of hardware, software, policies, and procedures.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46431" y="3942538"/>
            <a:ext cx="14862625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Manages digital certificates and public-key encryption.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6431" y="5262604"/>
            <a:ext cx="1660244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Enables secure and authenticated communication over public networks.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6431" y="6462725"/>
            <a:ext cx="13190184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Uses Public Key and Private Key as cryptographic keys.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6431" y="7780985"/>
            <a:ext cx="13571828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Helps verify identities and protect data integrity.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0972800" y="9089720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9600" y="1917860"/>
            <a:ext cx="5252098" cy="1098418"/>
            <a:chOff x="0" y="0"/>
            <a:chExt cx="1383269" cy="2892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3269" cy="289295"/>
            </a:xfrm>
            <a:custGeom>
              <a:avLst/>
              <a:gdLst/>
              <a:ahLst/>
              <a:cxnLst/>
              <a:rect l="l" t="t" r="r" b="b"/>
              <a:pathLst>
                <a:path w="1383269" h="289295">
                  <a:moveTo>
                    <a:pt x="29481" y="0"/>
                  </a:moveTo>
                  <a:lnTo>
                    <a:pt x="1353787" y="0"/>
                  </a:lnTo>
                  <a:cubicBezTo>
                    <a:pt x="1361606" y="0"/>
                    <a:pt x="1369105" y="3106"/>
                    <a:pt x="1374634" y="8635"/>
                  </a:cubicBezTo>
                  <a:cubicBezTo>
                    <a:pt x="1380163" y="14164"/>
                    <a:pt x="1383269" y="21662"/>
                    <a:pt x="1383269" y="29481"/>
                  </a:cubicBezTo>
                  <a:lnTo>
                    <a:pt x="1383269" y="259814"/>
                  </a:lnTo>
                  <a:cubicBezTo>
                    <a:pt x="1383269" y="267633"/>
                    <a:pt x="1380163" y="275132"/>
                    <a:pt x="1374634" y="280660"/>
                  </a:cubicBezTo>
                  <a:cubicBezTo>
                    <a:pt x="1369105" y="286189"/>
                    <a:pt x="1361606" y="289295"/>
                    <a:pt x="1353787" y="289295"/>
                  </a:cubicBezTo>
                  <a:lnTo>
                    <a:pt x="29481" y="289295"/>
                  </a:lnTo>
                  <a:cubicBezTo>
                    <a:pt x="21662" y="289295"/>
                    <a:pt x="14164" y="286189"/>
                    <a:pt x="8635" y="280660"/>
                  </a:cubicBezTo>
                  <a:cubicBezTo>
                    <a:pt x="3106" y="275132"/>
                    <a:pt x="0" y="267633"/>
                    <a:pt x="0" y="259814"/>
                  </a:cubicBezTo>
                  <a:lnTo>
                    <a:pt x="0" y="29481"/>
                  </a:lnTo>
                  <a:cubicBezTo>
                    <a:pt x="0" y="21662"/>
                    <a:pt x="3106" y="14164"/>
                    <a:pt x="8635" y="8635"/>
                  </a:cubicBezTo>
                  <a:cubicBezTo>
                    <a:pt x="14164" y="3106"/>
                    <a:pt x="21662" y="0"/>
                    <a:pt x="29481" y="0"/>
                  </a:cubicBezTo>
                  <a:close/>
                </a:path>
              </a:pathLst>
            </a:custGeom>
            <a:solidFill>
              <a:srgbClr val="875DF4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383269" cy="375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Asymmetric Cryptography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6467" y="1917860"/>
            <a:ext cx="5504271" cy="1098418"/>
            <a:chOff x="0" y="0"/>
            <a:chExt cx="1449685" cy="2892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685" cy="289295"/>
            </a:xfrm>
            <a:custGeom>
              <a:avLst/>
              <a:gdLst/>
              <a:ahLst/>
              <a:cxnLst/>
              <a:rect l="l" t="t" r="r" b="b"/>
              <a:pathLst>
                <a:path w="1449685" h="289295">
                  <a:moveTo>
                    <a:pt x="28131" y="0"/>
                  </a:moveTo>
                  <a:lnTo>
                    <a:pt x="1421554" y="0"/>
                  </a:lnTo>
                  <a:cubicBezTo>
                    <a:pt x="1437090" y="0"/>
                    <a:pt x="1449685" y="12594"/>
                    <a:pt x="1449685" y="28131"/>
                  </a:cubicBezTo>
                  <a:lnTo>
                    <a:pt x="1449685" y="261165"/>
                  </a:lnTo>
                  <a:cubicBezTo>
                    <a:pt x="1449685" y="268625"/>
                    <a:pt x="1446721" y="275781"/>
                    <a:pt x="1441445" y="281056"/>
                  </a:cubicBezTo>
                  <a:cubicBezTo>
                    <a:pt x="1436170" y="286332"/>
                    <a:pt x="1429015" y="289295"/>
                    <a:pt x="1421554" y="289295"/>
                  </a:cubicBezTo>
                  <a:lnTo>
                    <a:pt x="28131" y="289295"/>
                  </a:lnTo>
                  <a:cubicBezTo>
                    <a:pt x="20670" y="289295"/>
                    <a:pt x="13515" y="286332"/>
                    <a:pt x="8239" y="281056"/>
                  </a:cubicBezTo>
                  <a:cubicBezTo>
                    <a:pt x="2964" y="275781"/>
                    <a:pt x="0" y="268625"/>
                    <a:pt x="0" y="261165"/>
                  </a:cubicBezTo>
                  <a:lnTo>
                    <a:pt x="0" y="28131"/>
                  </a:lnTo>
                  <a:cubicBezTo>
                    <a:pt x="0" y="12594"/>
                    <a:pt x="12594" y="0"/>
                    <a:pt x="28131" y="0"/>
                  </a:cubicBezTo>
                  <a:close/>
                </a:path>
              </a:pathLst>
            </a:custGeom>
            <a:solidFill>
              <a:srgbClr val="875DF4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1449685" cy="375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111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Digital Certificates (X.509)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62739" y="6253736"/>
            <a:ext cx="4307603" cy="1011730"/>
            <a:chOff x="0" y="0"/>
            <a:chExt cx="1134513" cy="2664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4513" cy="266464"/>
            </a:xfrm>
            <a:custGeom>
              <a:avLst/>
              <a:gdLst/>
              <a:ahLst/>
              <a:cxnLst/>
              <a:rect l="l" t="t" r="r" b="b"/>
              <a:pathLst>
                <a:path w="1134513" h="266464">
                  <a:moveTo>
                    <a:pt x="35945" y="0"/>
                  </a:moveTo>
                  <a:lnTo>
                    <a:pt x="1098567" y="0"/>
                  </a:lnTo>
                  <a:cubicBezTo>
                    <a:pt x="1108101" y="0"/>
                    <a:pt x="1117244" y="3787"/>
                    <a:pt x="1123985" y="10528"/>
                  </a:cubicBezTo>
                  <a:cubicBezTo>
                    <a:pt x="1130726" y="17269"/>
                    <a:pt x="1134513" y="26412"/>
                    <a:pt x="1134513" y="35945"/>
                  </a:cubicBezTo>
                  <a:lnTo>
                    <a:pt x="1134513" y="230518"/>
                  </a:lnTo>
                  <a:cubicBezTo>
                    <a:pt x="1134513" y="250370"/>
                    <a:pt x="1118419" y="266464"/>
                    <a:pt x="1098567" y="266464"/>
                  </a:cubicBezTo>
                  <a:lnTo>
                    <a:pt x="35945" y="266464"/>
                  </a:lnTo>
                  <a:cubicBezTo>
                    <a:pt x="16093" y="266464"/>
                    <a:pt x="0" y="250370"/>
                    <a:pt x="0" y="230518"/>
                  </a:cubicBezTo>
                  <a:lnTo>
                    <a:pt x="0" y="35945"/>
                  </a:lnTo>
                  <a:cubicBezTo>
                    <a:pt x="0" y="16093"/>
                    <a:pt x="16093" y="0"/>
                    <a:pt x="35945" y="0"/>
                  </a:cubicBezTo>
                  <a:close/>
                </a:path>
              </a:pathLst>
            </a:custGeom>
            <a:solidFill>
              <a:srgbClr val="875DF4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1134513" cy="352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111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Management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9600" y="6253736"/>
            <a:ext cx="5149470" cy="1011730"/>
            <a:chOff x="0" y="0"/>
            <a:chExt cx="1356239" cy="2664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56239" cy="266464"/>
            </a:xfrm>
            <a:custGeom>
              <a:avLst/>
              <a:gdLst/>
              <a:ahLst/>
              <a:cxnLst/>
              <a:rect l="l" t="t" r="r" b="b"/>
              <a:pathLst>
                <a:path w="1356239" h="266464">
                  <a:moveTo>
                    <a:pt x="30069" y="0"/>
                  </a:moveTo>
                  <a:lnTo>
                    <a:pt x="1326170" y="0"/>
                  </a:lnTo>
                  <a:cubicBezTo>
                    <a:pt x="1334145" y="0"/>
                    <a:pt x="1341793" y="3168"/>
                    <a:pt x="1347432" y="8807"/>
                  </a:cubicBezTo>
                  <a:cubicBezTo>
                    <a:pt x="1353071" y="14446"/>
                    <a:pt x="1356239" y="22094"/>
                    <a:pt x="1356239" y="30069"/>
                  </a:cubicBezTo>
                  <a:lnTo>
                    <a:pt x="1356239" y="236395"/>
                  </a:lnTo>
                  <a:cubicBezTo>
                    <a:pt x="1356239" y="253001"/>
                    <a:pt x="1342777" y="266464"/>
                    <a:pt x="1326170" y="266464"/>
                  </a:cubicBezTo>
                  <a:lnTo>
                    <a:pt x="30069" y="266464"/>
                  </a:lnTo>
                  <a:cubicBezTo>
                    <a:pt x="13462" y="266464"/>
                    <a:pt x="0" y="253001"/>
                    <a:pt x="0" y="236395"/>
                  </a:cubicBezTo>
                  <a:lnTo>
                    <a:pt x="0" y="30069"/>
                  </a:lnTo>
                  <a:cubicBezTo>
                    <a:pt x="0" y="13462"/>
                    <a:pt x="13462" y="0"/>
                    <a:pt x="30069" y="0"/>
                  </a:cubicBezTo>
                  <a:close/>
                </a:path>
              </a:pathLst>
            </a:custGeom>
            <a:solidFill>
              <a:srgbClr val="875DF4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1356239" cy="352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111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Certificate Authority (CA)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98769" y="6253736"/>
            <a:ext cx="5504271" cy="1011730"/>
            <a:chOff x="0" y="0"/>
            <a:chExt cx="1449685" cy="2664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9685" cy="266464"/>
            </a:xfrm>
            <a:custGeom>
              <a:avLst/>
              <a:gdLst/>
              <a:ahLst/>
              <a:cxnLst/>
              <a:rect l="l" t="t" r="r" b="b"/>
              <a:pathLst>
                <a:path w="1449685" h="266464">
                  <a:moveTo>
                    <a:pt x="28131" y="0"/>
                  </a:moveTo>
                  <a:lnTo>
                    <a:pt x="1421554" y="0"/>
                  </a:lnTo>
                  <a:cubicBezTo>
                    <a:pt x="1437090" y="0"/>
                    <a:pt x="1449685" y="12594"/>
                    <a:pt x="1449685" y="28131"/>
                  </a:cubicBezTo>
                  <a:lnTo>
                    <a:pt x="1449685" y="238333"/>
                  </a:lnTo>
                  <a:cubicBezTo>
                    <a:pt x="1449685" y="245794"/>
                    <a:pt x="1446721" y="252949"/>
                    <a:pt x="1441445" y="258224"/>
                  </a:cubicBezTo>
                  <a:cubicBezTo>
                    <a:pt x="1436170" y="263500"/>
                    <a:pt x="1429015" y="266464"/>
                    <a:pt x="1421554" y="266464"/>
                  </a:cubicBezTo>
                  <a:lnTo>
                    <a:pt x="28131" y="266464"/>
                  </a:lnTo>
                  <a:cubicBezTo>
                    <a:pt x="12594" y="266464"/>
                    <a:pt x="0" y="253869"/>
                    <a:pt x="0" y="238333"/>
                  </a:cubicBezTo>
                  <a:lnTo>
                    <a:pt x="0" y="28131"/>
                  </a:lnTo>
                  <a:cubicBezTo>
                    <a:pt x="0" y="12594"/>
                    <a:pt x="12594" y="0"/>
                    <a:pt x="28131" y="0"/>
                  </a:cubicBezTo>
                  <a:close/>
                </a:path>
              </a:pathLst>
            </a:custGeom>
            <a:solidFill>
              <a:srgbClr val="875DF4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1449685" cy="352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111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Registration Authority (RA)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2662739" y="1917860"/>
            <a:ext cx="4752808" cy="3663983"/>
          </a:xfrm>
          <a:custGeom>
            <a:avLst/>
            <a:gdLst/>
            <a:ahLst/>
            <a:cxnLst/>
            <a:rect l="l" t="t" r="r" b="b"/>
            <a:pathLst>
              <a:path w="4752808" h="3663983">
                <a:moveTo>
                  <a:pt x="0" y="0"/>
                </a:moveTo>
                <a:lnTo>
                  <a:pt x="4752808" y="0"/>
                </a:lnTo>
                <a:lnTo>
                  <a:pt x="4752808" y="3663983"/>
                </a:lnTo>
                <a:lnTo>
                  <a:pt x="0" y="3663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89600" y="323036"/>
            <a:ext cx="1078200" cy="1078200"/>
          </a:xfrm>
          <a:custGeom>
            <a:avLst/>
            <a:gdLst/>
            <a:ahLst/>
            <a:cxnLst/>
            <a:rect l="l" t="t" r="r" b="b"/>
            <a:pathLst>
              <a:path w="1078200" h="1078200">
                <a:moveTo>
                  <a:pt x="0" y="0"/>
                </a:moveTo>
                <a:lnTo>
                  <a:pt x="1078200" y="0"/>
                </a:lnTo>
                <a:lnTo>
                  <a:pt x="1078200" y="1078200"/>
                </a:lnTo>
                <a:lnTo>
                  <a:pt x="0" y="1078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980232" y="437336"/>
            <a:ext cx="15962471" cy="868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Components &amp; </a:t>
            </a:r>
            <a:r>
              <a:rPr lang="en-US" sz="6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Functions of PKI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9600" y="3366322"/>
            <a:ext cx="4941174" cy="237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077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Uses a public-private key pair</a:t>
            </a:r>
          </a:p>
          <a:p>
            <a:pPr marL="582927" lvl="1" indent="-291463" algn="l">
              <a:lnSpc>
                <a:spcPts val="3077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encrypted with public key can be decrypted only with private key.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96467" y="3366322"/>
            <a:ext cx="4325659" cy="276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077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Acts</a:t>
            </a:r>
            <a:r>
              <a:rPr lang="en-US" sz="27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as a digital passport</a:t>
            </a:r>
          </a:p>
          <a:p>
            <a:pPr marL="582930" lvl="1" indent="-291465" algn="l">
              <a:lnSpc>
                <a:spcPts val="3077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Binds a public key to an entity (user, device, or application)</a:t>
            </a: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700" u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662739" y="7770291"/>
            <a:ext cx="4325659" cy="12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</a:t>
            </a:r>
            <a:r>
              <a:rPr lang="en-US" sz="27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dles key generation, storage, distribution, and revocation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170" y="7770291"/>
            <a:ext cx="4325659" cy="187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077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Trusted third party</a:t>
            </a:r>
          </a:p>
          <a:p>
            <a:pPr marL="582930" lvl="1" indent="-291465" algn="l">
              <a:lnSpc>
                <a:spcPts val="3077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Issues, signs, and manages digital certificates</a:t>
            </a:r>
          </a:p>
          <a:p>
            <a:pPr algn="l">
              <a:lnSpc>
                <a:spcPts val="2280"/>
              </a:lnSpc>
            </a:pPr>
            <a:endParaRPr lang="en-US" sz="2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396467" y="7770475"/>
            <a:ext cx="4325659" cy="1982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077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7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erifies and validates user identities</a:t>
            </a:r>
          </a:p>
          <a:p>
            <a:pPr marL="582930" lvl="1" indent="-291465" algn="l">
              <a:lnSpc>
                <a:spcPts val="3077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Approves certificate requests for CA</a:t>
            </a: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700" u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93110" y="2444661"/>
            <a:ext cx="5479205" cy="5737387"/>
          </a:xfrm>
          <a:custGeom>
            <a:avLst/>
            <a:gdLst/>
            <a:ahLst/>
            <a:cxnLst/>
            <a:rect l="l" t="t" r="r" b="b"/>
            <a:pathLst>
              <a:path w="5479205" h="5737387">
                <a:moveTo>
                  <a:pt x="0" y="0"/>
                </a:moveTo>
                <a:lnTo>
                  <a:pt x="5479205" y="0"/>
                </a:lnTo>
                <a:lnTo>
                  <a:pt x="5479205" y="5737388"/>
                </a:lnTo>
                <a:lnTo>
                  <a:pt x="0" y="573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195932" y="3663949"/>
            <a:ext cx="6929985" cy="0"/>
          </a:xfrm>
          <a:prstGeom prst="line">
            <a:avLst/>
          </a:prstGeom>
          <a:ln w="28575" cap="flat">
            <a:gradFill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226533" y="6447261"/>
            <a:ext cx="6929985" cy="0"/>
          </a:xfrm>
          <a:prstGeom prst="line">
            <a:avLst/>
          </a:prstGeom>
          <a:ln w="28575" cap="flat">
            <a:gradFill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0226533" y="1028700"/>
            <a:ext cx="1083438" cy="1717264"/>
          </a:xfrm>
          <a:custGeom>
            <a:avLst/>
            <a:gdLst/>
            <a:ahLst/>
            <a:cxnLst/>
            <a:rect l="l" t="t" r="r" b="b"/>
            <a:pathLst>
              <a:path w="1083438" h="1717264">
                <a:moveTo>
                  <a:pt x="0" y="0"/>
                </a:moveTo>
                <a:lnTo>
                  <a:pt x="1083437" y="0"/>
                </a:lnTo>
                <a:lnTo>
                  <a:pt x="1083437" y="1717264"/>
                </a:lnTo>
                <a:lnTo>
                  <a:pt x="0" y="171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490694" y="1782799"/>
            <a:ext cx="1570279" cy="157027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20351" y="6153433"/>
            <a:ext cx="1570279" cy="157027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20351" y="7090973"/>
            <a:ext cx="632740" cy="63274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35A5">
                    <a:alpha val="100000"/>
                  </a:srgbClr>
                </a:gs>
                <a:gs pos="100000">
                  <a:srgbClr val="9B40D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226533" y="4086877"/>
            <a:ext cx="1181879" cy="1226478"/>
          </a:xfrm>
          <a:custGeom>
            <a:avLst/>
            <a:gdLst/>
            <a:ahLst/>
            <a:cxnLst/>
            <a:rect l="l" t="t" r="r" b="b"/>
            <a:pathLst>
              <a:path w="1181879" h="1226478">
                <a:moveTo>
                  <a:pt x="0" y="0"/>
                </a:moveTo>
                <a:lnTo>
                  <a:pt x="1181879" y="0"/>
                </a:lnTo>
                <a:lnTo>
                  <a:pt x="1181879" y="1226478"/>
                </a:lnTo>
                <a:lnTo>
                  <a:pt x="0" y="12264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329315" y="6823611"/>
            <a:ext cx="1167462" cy="1167462"/>
          </a:xfrm>
          <a:custGeom>
            <a:avLst/>
            <a:gdLst/>
            <a:ahLst/>
            <a:cxnLst/>
            <a:rect l="l" t="t" r="r" b="b"/>
            <a:pathLst>
              <a:path w="1167462" h="1167462">
                <a:moveTo>
                  <a:pt x="0" y="0"/>
                </a:moveTo>
                <a:lnTo>
                  <a:pt x="1167462" y="0"/>
                </a:lnTo>
                <a:lnTo>
                  <a:pt x="1167462" y="1167462"/>
                </a:lnTo>
                <a:lnTo>
                  <a:pt x="0" y="11674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26427" y="1025711"/>
            <a:ext cx="4466336" cy="2623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74"/>
              </a:lnSpc>
            </a:pPr>
            <a:r>
              <a:rPr lang="en-US" sz="7800" b="1">
                <a:solidFill>
                  <a:srgbClr val="E93CB0"/>
                </a:solidFill>
                <a:latin typeface="Poppins Bold"/>
                <a:ea typeface="Poppins Bold"/>
                <a:cs typeface="Poppins Bold"/>
                <a:sym typeface="Poppins Bold"/>
              </a:rPr>
              <a:t>Key Benefits</a:t>
            </a:r>
            <a:r>
              <a:rPr lang="en-US" sz="7800">
                <a:solidFill>
                  <a:srgbClr val="E93CB0"/>
                </a:solidFill>
                <a:latin typeface="Poppins"/>
                <a:ea typeface="Poppins"/>
                <a:cs typeface="Poppins"/>
                <a:sym typeface="Poppins"/>
              </a:rPr>
              <a:t> of PKI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39078" y="862011"/>
            <a:ext cx="4190848" cy="51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9"/>
              </a:lnSpc>
            </a:pPr>
            <a:r>
              <a:rPr lang="en-US" sz="3399" b="1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Enhanced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12334" y="1486216"/>
            <a:ext cx="5486838" cy="216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Protects sensitive data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Prevents Man-in-the-Middle attacks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Ensures confidentiality and authenticity</a:t>
            </a:r>
          </a:p>
          <a:p>
            <a:pPr marL="0" lvl="0" indent="0" algn="just">
              <a:lnSpc>
                <a:spcPts val="2200"/>
              </a:lnSpc>
            </a:pPr>
            <a:endParaRPr lang="en-US" sz="2700">
              <a:solidFill>
                <a:srgbClr val="FFFBF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639078" y="3931555"/>
            <a:ext cx="3448282" cy="51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9"/>
              </a:lnSpc>
            </a:pPr>
            <a:r>
              <a:rPr lang="en-US" sz="3399" b="1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Authentication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12334" y="4655291"/>
            <a:ext cx="5486838" cy="17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Verifies user and device identities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Allows access only to authorized entities</a:t>
            </a:r>
          </a:p>
          <a:p>
            <a:pPr marL="0" lvl="0" indent="0" algn="just">
              <a:lnSpc>
                <a:spcPts val="2200"/>
              </a:lnSpc>
            </a:pPr>
            <a:endParaRPr lang="en-US" sz="2700">
              <a:solidFill>
                <a:srgbClr val="FFFBF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718257" y="6814086"/>
            <a:ext cx="5645195" cy="51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9"/>
              </a:lnSpc>
            </a:pPr>
            <a:r>
              <a:rPr lang="en-US" sz="3399" b="1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Scalability &amp; Compliance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12334" y="7533541"/>
            <a:ext cx="5486838" cy="17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Supports large and growing organizations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Helps meet regulatory requirements</a:t>
            </a:r>
          </a:p>
          <a:p>
            <a:pPr marL="0" lvl="0" indent="0" algn="l">
              <a:lnSpc>
                <a:spcPts val="2200"/>
              </a:lnSpc>
            </a:pPr>
            <a:endParaRPr lang="en-US" sz="2700">
              <a:solidFill>
                <a:srgbClr val="FFFBF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0927" y="3822482"/>
            <a:ext cx="5057578" cy="4702601"/>
            <a:chOff x="0" y="0"/>
            <a:chExt cx="1332037" cy="12385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2037" cy="1238545"/>
            </a:xfrm>
            <a:custGeom>
              <a:avLst/>
              <a:gdLst/>
              <a:ahLst/>
              <a:cxnLst/>
              <a:rect l="l" t="t" r="r" b="b"/>
              <a:pathLst>
                <a:path w="1332037" h="1238545">
                  <a:moveTo>
                    <a:pt x="38269" y="0"/>
                  </a:moveTo>
                  <a:lnTo>
                    <a:pt x="1293768" y="0"/>
                  </a:lnTo>
                  <a:cubicBezTo>
                    <a:pt x="1314903" y="0"/>
                    <a:pt x="1332037" y="17134"/>
                    <a:pt x="1332037" y="38269"/>
                  </a:cubicBezTo>
                  <a:lnTo>
                    <a:pt x="1332037" y="1200276"/>
                  </a:lnTo>
                  <a:cubicBezTo>
                    <a:pt x="1332037" y="1210426"/>
                    <a:pt x="1328005" y="1220160"/>
                    <a:pt x="1320828" y="1227336"/>
                  </a:cubicBezTo>
                  <a:cubicBezTo>
                    <a:pt x="1313651" y="1234513"/>
                    <a:pt x="1303918" y="1238545"/>
                    <a:pt x="1293768" y="1238545"/>
                  </a:cubicBezTo>
                  <a:lnTo>
                    <a:pt x="38269" y="1238545"/>
                  </a:lnTo>
                  <a:cubicBezTo>
                    <a:pt x="28119" y="1238545"/>
                    <a:pt x="18386" y="1234513"/>
                    <a:pt x="11209" y="1227336"/>
                  </a:cubicBezTo>
                  <a:cubicBezTo>
                    <a:pt x="4032" y="1220160"/>
                    <a:pt x="0" y="1210426"/>
                    <a:pt x="0" y="1200276"/>
                  </a:cubicBezTo>
                  <a:lnTo>
                    <a:pt x="0" y="38269"/>
                  </a:lnTo>
                  <a:cubicBezTo>
                    <a:pt x="0" y="28119"/>
                    <a:pt x="4032" y="18386"/>
                    <a:pt x="11209" y="11209"/>
                  </a:cubicBezTo>
                  <a:cubicBezTo>
                    <a:pt x="18386" y="4032"/>
                    <a:pt x="28119" y="0"/>
                    <a:pt x="3826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875DF4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1332037" cy="1181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44849" y="3816284"/>
            <a:ext cx="4861003" cy="4708799"/>
            <a:chOff x="0" y="0"/>
            <a:chExt cx="1280264" cy="12401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0264" cy="1240177"/>
            </a:xfrm>
            <a:custGeom>
              <a:avLst/>
              <a:gdLst/>
              <a:ahLst/>
              <a:cxnLst/>
              <a:rect l="l" t="t" r="r" b="b"/>
              <a:pathLst>
                <a:path w="1280264" h="1240177">
                  <a:moveTo>
                    <a:pt x="39816" y="0"/>
                  </a:moveTo>
                  <a:lnTo>
                    <a:pt x="1240448" y="0"/>
                  </a:lnTo>
                  <a:cubicBezTo>
                    <a:pt x="1262438" y="0"/>
                    <a:pt x="1280264" y="17826"/>
                    <a:pt x="1280264" y="39816"/>
                  </a:cubicBezTo>
                  <a:lnTo>
                    <a:pt x="1280264" y="1200361"/>
                  </a:lnTo>
                  <a:cubicBezTo>
                    <a:pt x="1280264" y="1210921"/>
                    <a:pt x="1276069" y="1221048"/>
                    <a:pt x="1268602" y="1228515"/>
                  </a:cubicBezTo>
                  <a:cubicBezTo>
                    <a:pt x="1261135" y="1235983"/>
                    <a:pt x="1251008" y="1240177"/>
                    <a:pt x="1240448" y="1240177"/>
                  </a:cubicBezTo>
                  <a:lnTo>
                    <a:pt x="39816" y="1240177"/>
                  </a:lnTo>
                  <a:cubicBezTo>
                    <a:pt x="17826" y="1240177"/>
                    <a:pt x="0" y="1222351"/>
                    <a:pt x="0" y="1200361"/>
                  </a:cubicBezTo>
                  <a:lnTo>
                    <a:pt x="0" y="39816"/>
                  </a:lnTo>
                  <a:cubicBezTo>
                    <a:pt x="0" y="29256"/>
                    <a:pt x="4195" y="19129"/>
                    <a:pt x="11662" y="11662"/>
                  </a:cubicBezTo>
                  <a:cubicBezTo>
                    <a:pt x="19129" y="4195"/>
                    <a:pt x="29256" y="0"/>
                    <a:pt x="398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875DF4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57150"/>
              <a:ext cx="1280264" cy="1183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20252" y="3816284"/>
            <a:ext cx="4895261" cy="4708799"/>
            <a:chOff x="0" y="0"/>
            <a:chExt cx="1289287" cy="12401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287" cy="1240177"/>
            </a:xfrm>
            <a:custGeom>
              <a:avLst/>
              <a:gdLst/>
              <a:ahLst/>
              <a:cxnLst/>
              <a:rect l="l" t="t" r="r" b="b"/>
              <a:pathLst>
                <a:path w="1289287" h="1240177">
                  <a:moveTo>
                    <a:pt x="39538" y="0"/>
                  </a:moveTo>
                  <a:lnTo>
                    <a:pt x="1249749" y="0"/>
                  </a:lnTo>
                  <a:cubicBezTo>
                    <a:pt x="1271585" y="0"/>
                    <a:pt x="1289287" y="17702"/>
                    <a:pt x="1289287" y="39538"/>
                  </a:cubicBezTo>
                  <a:lnTo>
                    <a:pt x="1289287" y="1200640"/>
                  </a:lnTo>
                  <a:cubicBezTo>
                    <a:pt x="1289287" y="1211126"/>
                    <a:pt x="1285121" y="1221182"/>
                    <a:pt x="1277706" y="1228597"/>
                  </a:cubicBezTo>
                  <a:cubicBezTo>
                    <a:pt x="1270292" y="1236012"/>
                    <a:pt x="1260235" y="1240177"/>
                    <a:pt x="1249749" y="1240177"/>
                  </a:cubicBezTo>
                  <a:lnTo>
                    <a:pt x="39538" y="1240177"/>
                  </a:lnTo>
                  <a:cubicBezTo>
                    <a:pt x="17702" y="1240177"/>
                    <a:pt x="0" y="1222476"/>
                    <a:pt x="0" y="1200640"/>
                  </a:cubicBezTo>
                  <a:lnTo>
                    <a:pt x="0" y="39538"/>
                  </a:lnTo>
                  <a:cubicBezTo>
                    <a:pt x="0" y="17702"/>
                    <a:pt x="17702" y="0"/>
                    <a:pt x="3953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875DF4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1289287" cy="1183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380940" y="4206936"/>
            <a:ext cx="1946913" cy="2093755"/>
          </a:xfrm>
          <a:custGeom>
            <a:avLst/>
            <a:gdLst/>
            <a:ahLst/>
            <a:cxnLst/>
            <a:rect l="l" t="t" r="r" b="b"/>
            <a:pathLst>
              <a:path w="1946913" h="2093755">
                <a:moveTo>
                  <a:pt x="0" y="0"/>
                </a:moveTo>
                <a:lnTo>
                  <a:pt x="1946914" y="0"/>
                </a:lnTo>
                <a:lnTo>
                  <a:pt x="1946914" y="2093755"/>
                </a:lnTo>
                <a:lnTo>
                  <a:pt x="0" y="209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02151" y="4059651"/>
            <a:ext cx="1252958" cy="1534804"/>
          </a:xfrm>
          <a:custGeom>
            <a:avLst/>
            <a:gdLst/>
            <a:ahLst/>
            <a:cxnLst/>
            <a:rect l="l" t="t" r="r" b="b"/>
            <a:pathLst>
              <a:path w="1252958" h="1534804">
                <a:moveTo>
                  <a:pt x="0" y="0"/>
                </a:moveTo>
                <a:lnTo>
                  <a:pt x="1252958" y="0"/>
                </a:lnTo>
                <a:lnTo>
                  <a:pt x="1252958" y="1534803"/>
                </a:lnTo>
                <a:lnTo>
                  <a:pt x="0" y="1534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663807" y="5435997"/>
            <a:ext cx="1129647" cy="864693"/>
          </a:xfrm>
          <a:custGeom>
            <a:avLst/>
            <a:gdLst/>
            <a:ahLst/>
            <a:cxnLst/>
            <a:rect l="l" t="t" r="r" b="b"/>
            <a:pathLst>
              <a:path w="1129647" h="864693">
                <a:moveTo>
                  <a:pt x="0" y="0"/>
                </a:moveTo>
                <a:lnTo>
                  <a:pt x="1129647" y="0"/>
                </a:lnTo>
                <a:lnTo>
                  <a:pt x="1129647" y="864694"/>
                </a:lnTo>
                <a:lnTo>
                  <a:pt x="0" y="864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425227" y="4103750"/>
            <a:ext cx="1351946" cy="1993486"/>
          </a:xfrm>
          <a:custGeom>
            <a:avLst/>
            <a:gdLst/>
            <a:ahLst/>
            <a:cxnLst/>
            <a:rect l="l" t="t" r="r" b="b"/>
            <a:pathLst>
              <a:path w="1351946" h="1993486">
                <a:moveTo>
                  <a:pt x="0" y="0"/>
                </a:moveTo>
                <a:lnTo>
                  <a:pt x="1351946" y="0"/>
                </a:lnTo>
                <a:lnTo>
                  <a:pt x="1351946" y="1993486"/>
                </a:lnTo>
                <a:lnTo>
                  <a:pt x="0" y="19934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554434" y="1850528"/>
            <a:ext cx="9348392" cy="101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40"/>
              </a:lnSpc>
            </a:pPr>
            <a:r>
              <a:rPr lang="en-US" sz="8000">
                <a:solidFill>
                  <a:srgbClr val="E93CB0"/>
                </a:solidFill>
                <a:latin typeface="Poppins"/>
                <a:ea typeface="Poppins"/>
                <a:cs typeface="Poppins"/>
                <a:sym typeface="Poppins"/>
              </a:rPr>
              <a:t>Limitations of  PKI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71264" y="6447704"/>
            <a:ext cx="265690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>
                <a:gradFill>
                  <a:gsLst>
                    <a:gs pos="0">
                      <a:srgbClr val="9B40D1">
                        <a:alpha val="100000"/>
                      </a:srgbClr>
                    </a:gs>
                    <a:gs pos="100000">
                      <a:srgbClr val="FC35A5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Complexity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7425" y="6941417"/>
            <a:ext cx="3884583" cy="152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69"/>
              </a:lnSpc>
            </a:pPr>
            <a:r>
              <a:rPr lang="en-US" sz="26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PKI infrastructure management is technically demanding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65918" y="6480410"/>
            <a:ext cx="318139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>
                <a:gradFill>
                  <a:gsLst>
                    <a:gs pos="0">
                      <a:srgbClr val="9B40D1">
                        <a:alpha val="100000"/>
                      </a:srgbClr>
                    </a:gs>
                    <a:gs pos="100000">
                      <a:srgbClr val="FC35A5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Trust Dependence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12591" y="6480410"/>
            <a:ext cx="303742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>
                <a:gradFill>
                  <a:gsLst>
                    <a:gs pos="0">
                      <a:srgbClr val="9B40D1">
                        <a:alpha val="100000"/>
                      </a:srgbClr>
                    </a:gs>
                    <a:gs pos="100000">
                      <a:srgbClr val="FC35A5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Key Compromise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85751" y="7079470"/>
            <a:ext cx="3164262" cy="114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69"/>
              </a:lnSpc>
            </a:pPr>
            <a:r>
              <a:rPr lang="en-US" sz="26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If the private key is stolen, security is invalidated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16753" y="7026510"/>
            <a:ext cx="4317194" cy="12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Entire system depends on the security of the Certificate Authority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6630" y="3602111"/>
            <a:ext cx="3841146" cy="384114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57150" cap="rnd">
              <a:solidFill>
                <a:srgbClr val="8D9193"/>
              </a:solidFill>
              <a:prstDash val="sysDot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12115" y="3534660"/>
            <a:ext cx="1622297" cy="16222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53588" y="3534660"/>
            <a:ext cx="1622297" cy="16222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43D6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53587" y="5948521"/>
            <a:ext cx="1622297" cy="162229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3CB0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12115" y="5948521"/>
            <a:ext cx="1622297" cy="162229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5471797">
            <a:off x="8905875" y="3442958"/>
            <a:ext cx="476250" cy="416719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10800000">
            <a:off x="10765713" y="5344380"/>
            <a:ext cx="476250" cy="416719"/>
            <a:chOff x="0" y="0"/>
            <a:chExt cx="812800" cy="711200"/>
          </a:xfrm>
        </p:grpSpPr>
        <p:sp>
          <p:nvSpPr>
            <p:cNvPr id="21" name="Freeform 21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B43D6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24567" y="5344380"/>
            <a:ext cx="476250" cy="416719"/>
            <a:chOff x="0" y="0"/>
            <a:chExt cx="812800" cy="711200"/>
          </a:xfrm>
        </p:grpSpPr>
        <p:sp>
          <p:nvSpPr>
            <p:cNvPr id="24" name="Freeform 24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5400000">
            <a:off x="8900948" y="7235154"/>
            <a:ext cx="476250" cy="416719"/>
            <a:chOff x="0" y="0"/>
            <a:chExt cx="812800" cy="711200"/>
          </a:xfrm>
        </p:grpSpPr>
        <p:sp>
          <p:nvSpPr>
            <p:cNvPr id="27" name="Freeform 27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E93CB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719733" y="2863136"/>
            <a:ext cx="4054133" cy="154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Ensures encrypted and trusted website connections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44213" y="2863136"/>
            <a:ext cx="4054133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Protects emails from unauthorized access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02724" y="6948272"/>
            <a:ext cx="3835058" cy="154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Secures transactions and sensitive user data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00817" y="3929876"/>
            <a:ext cx="759319" cy="70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85076" y="6351649"/>
            <a:ext cx="759319" cy="70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129838" y="3929876"/>
            <a:ext cx="759319" cy="70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41634" y="294725"/>
            <a:ext cx="7631306" cy="81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Applications</a:t>
            </a: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of PKI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244213" y="7056857"/>
            <a:ext cx="4155826" cy="143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Used for user and device authentication in networks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244213" y="1822244"/>
            <a:ext cx="3514169" cy="811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700" b="1">
                <a:solidFill>
                  <a:srgbClr val="CB6CE6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Email Communication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70130" y="1699562"/>
            <a:ext cx="4067651" cy="1056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spcBef>
                <a:spcPct val="0"/>
              </a:spcBef>
            </a:pPr>
            <a:r>
              <a:rPr lang="en-US" sz="2400" b="1">
                <a:solidFill>
                  <a:srgbClr val="AD7FF8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Web Communication</a:t>
            </a:r>
          </a:p>
          <a:p>
            <a:pPr algn="ctr">
              <a:lnSpc>
                <a:spcPts val="2736"/>
              </a:lnSpc>
              <a:spcBef>
                <a:spcPct val="0"/>
              </a:spcBef>
            </a:pPr>
            <a:r>
              <a:rPr lang="en-US" sz="2400" b="1">
                <a:solidFill>
                  <a:srgbClr val="AD7FF8"/>
                </a:solidFill>
                <a:latin typeface="Poppins Bold"/>
                <a:ea typeface="Poppins Bold"/>
                <a:cs typeface="Poppins Bold"/>
                <a:sym typeface="Poppins Bold"/>
              </a:rPr>
              <a:t>(HTTPS / SSL / TLS)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61067" y="5948521"/>
            <a:ext cx="3243211" cy="762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en-US" sz="2600" b="1">
                <a:solidFill>
                  <a:srgbClr val="E93CB0"/>
                </a:solidFill>
                <a:latin typeface="Poppins Bold"/>
                <a:ea typeface="Poppins Bold"/>
                <a:cs typeface="Poppins Bold"/>
                <a:sym typeface="Poppins Bold"/>
              </a:rPr>
              <a:t>Authentication &amp; Access Control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719733" y="5938996"/>
            <a:ext cx="3102180" cy="811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700" b="1">
                <a:solidFill>
                  <a:srgbClr val="CB6CE6"/>
                </a:solidFill>
                <a:latin typeface="Poppins Bold"/>
                <a:ea typeface="Poppins Bold"/>
                <a:cs typeface="Poppins Bold"/>
                <a:sym typeface="Poppins Bold"/>
              </a:rPr>
              <a:t>Online Banking &amp; E-Commerce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00817" y="6299486"/>
            <a:ext cx="759319" cy="70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Office PowerPoint</Application>
  <PresentationFormat>Custom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Poppins Bold</vt:lpstr>
      <vt:lpstr>TT Firs Neue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Cyber Security Presentation</dc:title>
  <cp:lastModifiedBy>rushikaanumula2006@outlook.com</cp:lastModifiedBy>
  <cp:revision>2</cp:revision>
  <dcterms:created xsi:type="dcterms:W3CDTF">2006-08-16T00:00:00Z</dcterms:created>
  <dcterms:modified xsi:type="dcterms:W3CDTF">2026-02-14T05:53:36Z</dcterms:modified>
  <dc:identifier>DAHApUkiQUw</dc:identifier>
</cp:coreProperties>
</file>